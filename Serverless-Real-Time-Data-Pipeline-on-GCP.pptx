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6" r:id="rId9"/>
    <p:sldId id="267" r:id="rId10"/>
    <p:sldId id="262" r:id="rId11"/>
    <p:sldId id="263" r:id="rId12"/>
    <p:sldId id="264" r:id="rId13"/>
    <p:sldId id="265" r:id="rId14"/>
  </p:sldIdLst>
  <p:sldSz cx="14630400" cy="8229600"/>
  <p:notesSz cx="8229600" cy="14630400"/>
  <p:embeddedFontLst>
    <p:embeddedFont>
      <p:font typeface="Bitter Medium" pitchFamily="2" charset="77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Open Sans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92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Serverless Real-Time Data Pipeline on GCP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fully serverless, end-to-end solution for processing real-time data using Google Cloud Platform's tools.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0190" y="5172254"/>
            <a:ext cx="250436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kern="0" spc="-3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Presented By :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kern="0" spc="-3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Ashish Kumar (M23AID069)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kern="0" spc="-3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Ankita Agarwal (M23AID021)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kern="0" spc="-36" dirty="0" err="1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</a:rPr>
              <a:t>Zarrish</a:t>
            </a:r>
            <a:r>
              <a:rPr lang="en-US" sz="2200" b="1" kern="0" spc="-3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</a:rPr>
              <a:t> </a:t>
            </a:r>
            <a:r>
              <a:rPr lang="en-US" sz="2200" b="1" kern="0" spc="-36" dirty="0" err="1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</a:rPr>
              <a:t>Iqrar</a:t>
            </a:r>
            <a:r>
              <a:rPr lang="en-US" sz="2200" b="1" kern="0" spc="-3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</a:rPr>
              <a:t> (M23AID048)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kern="0" spc="-36" dirty="0" err="1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</a:rPr>
              <a:t>Sachin</a:t>
            </a:r>
            <a:r>
              <a:rPr lang="en-US" sz="2200" b="1" kern="0" spc="-3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</a:rPr>
              <a:t> Gupta (M23AID057)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kern="0" spc="-36" dirty="0" err="1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</a:rPr>
              <a:t>Rhythem</a:t>
            </a:r>
            <a:r>
              <a:rPr lang="en-US" sz="2200" b="1" kern="0" spc="-36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</a:rPr>
              <a:t> Sharma (M23AID023)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EBA9E4-8F8C-8545-9D28-035E00A08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09775"/>
            <a:ext cx="61215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From Batch to Real-Time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1386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3313867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Batch Processing Limitations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4158615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collected over time, processed all at once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31386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08983" y="33138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Real-Time Necessity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08983" y="3804285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Finance, healthcare, retail need immediate insights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3663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53663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Serverless Advantage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85680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logic while cloud handles infrastructure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46865A-9B2D-9543-AECD-CF24313FD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6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Objective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30" y="1997035"/>
            <a:ext cx="1614011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2613065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88255" y="2223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Real-Time Pipeline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088255" y="2714268"/>
            <a:ext cx="339602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streaming data efficiently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E2C8B5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424" y="3360658"/>
            <a:ext cx="3228022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3814762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95261" y="35874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Scalable Architecture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895261" y="4077891"/>
            <a:ext cx="2936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 varying data volumes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5725120" y="4680704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E2C8B5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3418" y="4724281"/>
            <a:ext cx="484203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892" y="5178385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02266" y="4951095"/>
            <a:ext cx="25117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Cost-Effective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702266" y="5441513"/>
            <a:ext cx="25117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 only for what we use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6532126" y="6044327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E2C8B5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294" y="6087904"/>
            <a:ext cx="6456164" cy="1306949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4773" y="6542008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09272" y="6314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Low-Latency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7509272" y="6805136"/>
            <a:ext cx="28839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Near-instant data availability</a:t>
            </a:r>
            <a:endParaRPr lang="en-US" sz="1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FE3A104-D421-A941-A928-13A9836B96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0" grpId="0" animBg="1"/>
      <p:bldP spid="11" grpId="0" animBg="1"/>
      <p:bldP spid="15" grpId="0" animBg="1"/>
      <p:bldP spid="16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96058"/>
            <a:ext cx="69998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Cloud Computing Relevance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44998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079433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On-Demand Infrastructure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24181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Scalable resources ideal for data processing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844998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3079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Serverless Simplicity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569851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server management complexity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112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345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GCP Ecosystem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8360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tools working seamlessly together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27E539-499F-6642-A02D-A026FBFE8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44171"/>
            <a:ext cx="60105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High-Level Architecture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893112"/>
            <a:ext cx="3260646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6140529"/>
            <a:ext cx="2807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Cloud Pub/Sub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20604" y="6630948"/>
            <a:ext cx="28070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Ingests data streams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435" y="4893112"/>
            <a:ext cx="3260765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81249" y="6140529"/>
            <a:ext cx="28071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Cloud Dataflow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281249" y="6630948"/>
            <a:ext cx="28071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data in real-time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93112"/>
            <a:ext cx="3260646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42014" y="6140529"/>
            <a:ext cx="2807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BigQuery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542014" y="6630948"/>
            <a:ext cx="28070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structured data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5846" y="4893112"/>
            <a:ext cx="3260765" cy="9072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02660" y="6140529"/>
            <a:ext cx="28071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Looker Studio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802660" y="6630948"/>
            <a:ext cx="28071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Visualizes processed data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39D9D06-EE83-E644-A90C-E6A7EF2470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age11image37008384">
            <a:extLst>
              <a:ext uri="{FF2B5EF4-FFF2-40B4-BE49-F238E27FC236}">
                <a16:creationId xmlns:a16="http://schemas.microsoft.com/office/drawing/2014/main" id="{A62955CE-8C32-5648-A8F7-380715234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50" y="2380129"/>
            <a:ext cx="13272499" cy="311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60FF4E-27FB-DB4B-B5FE-C7CD86596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2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61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Implementation Steps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35341" y="1685092"/>
            <a:ext cx="30480" cy="5908238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</p:sp>
      <p:sp>
        <p:nvSpPr>
          <p:cNvPr id="5" name="Shape 2"/>
          <p:cNvSpPr/>
          <p:nvPr/>
        </p:nvSpPr>
        <p:spPr>
          <a:xfrm>
            <a:off x="6760012" y="218015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19402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1982748"/>
            <a:ext cx="340162" cy="4252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69411" y="1911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Ingestion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669411" y="240232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CSV data published to Pub/Sub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760012" y="371391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</p:sp>
      <p:sp>
        <p:nvSpPr>
          <p:cNvPr id="11" name="Shape 7"/>
          <p:cNvSpPr/>
          <p:nvPr/>
        </p:nvSpPr>
        <p:spPr>
          <a:xfrm>
            <a:off x="6280190" y="347400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260" y="3516511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69411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Processing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669411" y="3936087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Dataflow cleans and transforms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760012" y="5247680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</p:sp>
      <p:sp>
        <p:nvSpPr>
          <p:cNvPr id="16" name="Shape 11"/>
          <p:cNvSpPr/>
          <p:nvPr/>
        </p:nvSpPr>
        <p:spPr>
          <a:xfrm>
            <a:off x="6280190" y="50077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260" y="5050274"/>
            <a:ext cx="340162" cy="4252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69411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Storage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669411" y="5469850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BigQuery for queries, Storage for raw files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6760012" y="678144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</p:sp>
      <p:sp>
        <p:nvSpPr>
          <p:cNvPr id="21" name="Shape 15"/>
          <p:cNvSpPr/>
          <p:nvPr/>
        </p:nvSpPr>
        <p:spPr>
          <a:xfrm>
            <a:off x="6280190" y="65415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5260" y="6584037"/>
            <a:ext cx="340162" cy="4252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69411" y="6513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Analytics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7669411" y="7003613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dashboards with Looker Studio</a:t>
            </a:r>
            <a:endParaRPr lang="en-US" sz="17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B34010A-AE0C-2845-8EAF-77CDD8EC91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3" grpId="0" animBg="1"/>
      <p:bldP spid="14" grpId="0" animBg="1"/>
      <p:bldP spid="18" grpId="0" animBg="1"/>
      <p:bldP spid="19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page3image37130928">
            <a:extLst>
              <a:ext uri="{FF2B5EF4-FFF2-40B4-BE49-F238E27FC236}">
                <a16:creationId xmlns:a16="http://schemas.microsoft.com/office/drawing/2014/main" id="{865FCA07-9AE3-3F4E-9C06-DC90C7275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21" y="309280"/>
            <a:ext cx="5722557" cy="288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3image37130928">
            <a:extLst>
              <a:ext uri="{FF2B5EF4-FFF2-40B4-BE49-F238E27FC236}">
                <a16:creationId xmlns:a16="http://schemas.microsoft.com/office/drawing/2014/main" id="{8304C49B-7DA1-4849-9DAC-22BE76B6A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435" y="309282"/>
            <a:ext cx="50419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3image47320448">
            <a:extLst>
              <a:ext uri="{FF2B5EF4-FFF2-40B4-BE49-F238E27FC236}">
                <a16:creationId xmlns:a16="http://schemas.microsoft.com/office/drawing/2014/main" id="{787B26D8-8A51-F243-B1ED-EFE2BA05D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435" y="309282"/>
            <a:ext cx="8128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3image37131136">
            <a:extLst>
              <a:ext uri="{FF2B5EF4-FFF2-40B4-BE49-F238E27FC236}">
                <a16:creationId xmlns:a16="http://schemas.microsoft.com/office/drawing/2014/main" id="{3D348F31-A901-6A47-9E7D-40DC5895D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434" y="309281"/>
            <a:ext cx="5722557" cy="290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page3image47320640">
            <a:extLst>
              <a:ext uri="{FF2B5EF4-FFF2-40B4-BE49-F238E27FC236}">
                <a16:creationId xmlns:a16="http://schemas.microsoft.com/office/drawing/2014/main" id="{4C92A80E-1DF4-204E-9B51-C1AB4DFEF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435" y="309282"/>
            <a:ext cx="8128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page4image47547712">
            <a:extLst>
              <a:ext uri="{FF2B5EF4-FFF2-40B4-BE49-F238E27FC236}">
                <a16:creationId xmlns:a16="http://schemas.microsoft.com/office/drawing/2014/main" id="{DB6A18E2-8F76-A44C-B04B-A70A5A2B0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070" y="4944784"/>
            <a:ext cx="97790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ge4image37026848">
            <a:extLst>
              <a:ext uri="{FF2B5EF4-FFF2-40B4-BE49-F238E27FC236}">
                <a16:creationId xmlns:a16="http://schemas.microsoft.com/office/drawing/2014/main" id="{30D64B0A-335F-F644-9F6F-B4695957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434" y="3938869"/>
            <a:ext cx="6004399" cy="288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page4image47550016">
            <a:extLst>
              <a:ext uri="{FF2B5EF4-FFF2-40B4-BE49-F238E27FC236}">
                <a16:creationId xmlns:a16="http://schemas.microsoft.com/office/drawing/2014/main" id="{5E66D3C2-2F05-2646-9358-30A69EC56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070" y="4944784"/>
            <a:ext cx="22860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page4image37024768">
            <a:extLst>
              <a:ext uri="{FF2B5EF4-FFF2-40B4-BE49-F238E27FC236}">
                <a16:creationId xmlns:a16="http://schemas.microsoft.com/office/drawing/2014/main" id="{3C84D9A7-95EC-9748-A15B-6B6313E8C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21" y="3938869"/>
            <a:ext cx="5686987" cy="288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1BE856-269D-CC48-8883-398642EF60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5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page5image37131760">
            <a:extLst>
              <a:ext uri="{FF2B5EF4-FFF2-40B4-BE49-F238E27FC236}">
                <a16:creationId xmlns:a16="http://schemas.microsoft.com/office/drawing/2014/main" id="{A074C421-9E24-9A48-86F9-9B9531427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353" y="615964"/>
            <a:ext cx="6034747" cy="306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age5image47690304">
            <a:extLst>
              <a:ext uri="{FF2B5EF4-FFF2-40B4-BE49-F238E27FC236}">
                <a16:creationId xmlns:a16="http://schemas.microsoft.com/office/drawing/2014/main" id="{D2E4E2DE-C0D6-BF4F-98CF-9337FBA07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699" y="833716"/>
            <a:ext cx="2452743" cy="165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page5image37138416">
            <a:extLst>
              <a:ext uri="{FF2B5EF4-FFF2-40B4-BE49-F238E27FC236}">
                <a16:creationId xmlns:a16="http://schemas.microsoft.com/office/drawing/2014/main" id="{8DDA35EA-F557-8D45-8C6E-7CA56581E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497" y="615964"/>
            <a:ext cx="5936753" cy="306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age6image37107728">
            <a:extLst>
              <a:ext uri="{FF2B5EF4-FFF2-40B4-BE49-F238E27FC236}">
                <a16:creationId xmlns:a16="http://schemas.microsoft.com/office/drawing/2014/main" id="{4EB88BA7-73A7-AF4C-AB11-783A7FF32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500" y="4114800"/>
            <a:ext cx="6070600" cy="306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7" descr="page6image37106272">
            <a:extLst>
              <a:ext uri="{FF2B5EF4-FFF2-40B4-BE49-F238E27FC236}">
                <a16:creationId xmlns:a16="http://schemas.microsoft.com/office/drawing/2014/main" id="{8247140A-D363-164A-A82A-7307D46B0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574" y="4114800"/>
            <a:ext cx="5936754" cy="306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8FADB8-A431-2F44-AA59-E215A6607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7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40036"/>
            <a:ext cx="57672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Tools and Technologies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288977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082766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Pub/Sub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3573185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message streaming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304" y="2288977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3082766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Dataflow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3573185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 processing with Apache Beam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538" y="2288977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3082766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BigQuery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3573185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Fast, scalable storage and analysis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4979432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0190" y="5773222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Cloud Functions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280190" y="6263640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Event-based automation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4DA469-0E6B-E548-8DB5-C087B89DC5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515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Outcomes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413873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kern="0" spc="-17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100ms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66548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Processing Latency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936087"/>
            <a:ext cx="3608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Ultra-fast data processing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28421" y="2413873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kern="0" spc="-17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30%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14898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Cost Savings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28421" y="3936087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Compared to traditional setups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54246" y="5092779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kern="0" spc="-17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99.99%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8640723" y="61245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Uptime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54246" y="6614993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availability maintained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9A7717-E366-D14C-BAA3-75997BF7E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60677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Traditional vs Serverless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Traditional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~200ms latency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$0.80/GB cost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scaling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maintenance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Serverless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~100ms latency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$0.50/GB cost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Auto-scaling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Plug-and-play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4200CC-9284-0F4B-9F96-EF9DAD636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kern="0" spc="-134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Future Enhancements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ML-based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to flag unusual patterns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411" y="420909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042999"/>
            <a:ext cx="29300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Multi-cloud Integration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resilience, reduced lock-in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307" y="3258026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67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Advanced Automation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9859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 business logic triggers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4533" y="5984200"/>
            <a:ext cx="339328" cy="4242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CA67E6-F7EE-6641-9F19-44E667F89D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05764" y="7405642"/>
            <a:ext cx="2124635" cy="823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299</Words>
  <Application>Microsoft Macintosh PowerPoint</Application>
  <PresentationFormat>Custom</PresentationFormat>
  <Paragraphs>96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Bitter Medium</vt:lpstr>
      <vt:lpstr>Calibri</vt:lpstr>
      <vt:lpstr>Arial</vt:lpstr>
      <vt:lpstr>Open Sans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4</cp:revision>
  <dcterms:created xsi:type="dcterms:W3CDTF">2025-04-12T10:06:14Z</dcterms:created>
  <dcterms:modified xsi:type="dcterms:W3CDTF">2025-04-12T10:27:34Z</dcterms:modified>
</cp:coreProperties>
</file>